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5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0973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163255">
              <a:alpha val="60000"/>
            </a:srgbClr>
          </a:solidFill>
          <a:ln w="12700">
            <a:solidFill>
              <a:srgbClr val="1632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MERN STACK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MyFin Bank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Digital Banking Platform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MongoDB · Express.js · React 19 · Node.js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Two-portal system: Customer Banking + Admin Management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Presentation  ·  2026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A3FBC-5A28-7926-4D0D-53FB63A40407}"/>
              </a:ext>
            </a:extLst>
          </p:cNvPr>
          <p:cNvSpPr txBox="1"/>
          <p:nvPr/>
        </p:nvSpPr>
        <p:spPr>
          <a:xfrm>
            <a:off x="2485813" y="960120"/>
            <a:ext cx="3474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Sundralla Sai Sathwik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64008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69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What It 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380744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banking simulation with real-world workflows: KYC onboarding, accounts, loans, FD/RD, fund transfers, and live support chat.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64008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69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Two Portals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380744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(11 pages) for day-to-day banking operations, and Admin Panel (6 pages) for managing customers, accounts, loans &amp; beneficiaries.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44768" y="9601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960120"/>
            <a:ext cx="64008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069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81928" y="1380744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 with role guards (CUSTOMER / ADMIN). Passwords hashed with bcryptjs. KYC documents uploaded and stored via Multer.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74320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743200"/>
            <a:ext cx="64008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28529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Alerts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" y="3163824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automated email templates via Nodemailer: account approved, loan approved/rejected, OTP password reset, and zero-balance admin alert.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74320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743200"/>
            <a:ext cx="64008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8529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Real-time Chat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163824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powers live customer-admin support chat. Each ticket has its own room; messages persist to MongoDB.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44768" y="274320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2743200"/>
            <a:ext cx="64008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8529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Cron Automation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81928" y="3163824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node-cron runs hourly: auto-deactivates AT_RISK accounts after 24h of zero balance, with email alert to admin at trigger time.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3255"/>
          </a:solidFill>
          <a:ln w="12700">
            <a:solidFill>
              <a:srgbClr val="1632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2011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2011680" cy="3566160"/>
          </a:xfrm>
          <a:prstGeom prst="rect">
            <a:avLst/>
          </a:prstGeom>
          <a:solidFill>
            <a:srgbClr val="1632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34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19 + React Router v7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7830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Redux Toolkit (8 slices)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MUI v7 (Material Design)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2880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Formik + Yup validation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34290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Socket.IO Client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39776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Axios + JWT interceptor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32304" y="822960"/>
            <a:ext cx="20116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2304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32304" y="1170432"/>
            <a:ext cx="2011680" cy="3566160"/>
          </a:xfrm>
          <a:prstGeom prst="rect">
            <a:avLst/>
          </a:prstGeom>
          <a:solidFill>
            <a:srgbClr val="1632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1234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Node.js + Express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23744" y="17830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(jsonwebtoken)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23744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bcryptjs password hashing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23744" y="2880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Multer file uploads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23744" y="34290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Nodemailer (6 templates)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23744" y="39776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node-cron scheduled jobs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8576" y="822960"/>
            <a:ext cx="201168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08576" y="1170432"/>
            <a:ext cx="2011680" cy="3566160"/>
          </a:xfrm>
          <a:prstGeom prst="rect">
            <a:avLst/>
          </a:prstGeom>
          <a:solidFill>
            <a:srgbClr val="1632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1234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MongoDB (local)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0016" y="17830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Mongoose ODM v9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0016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10 collections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0016" y="2880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 ID generator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0016" y="34290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Prefixed IDs (MYFIN-CUST...)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0016" y="39776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Ref-based relationships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84848" y="822960"/>
            <a:ext cx="2011680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84848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84848" y="1170432"/>
            <a:ext cx="2011680" cy="3566160"/>
          </a:xfrm>
          <a:prstGeom prst="rect">
            <a:avLst/>
          </a:prstGeom>
          <a:solidFill>
            <a:srgbClr val="1632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1234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Socket.IO v4.8 server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76288" y="17830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Ticket-based chat rooms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76288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Event: joinTicket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76288" y="2880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Event: sendMessage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76288" y="34290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Event: newMessage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76288" y="39776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Persisted to MongoDB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17043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2926080" cy="1170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(React 19 + Redux)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37560" y="1005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Pages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005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Portal (11 pages)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Panel (6 pages)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Redux Store (8 slices)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148840"/>
            <a:ext cx="8631936" cy="1170432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148840"/>
            <a:ext cx="292608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2585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(Express 5 + Node.js)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2624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localhost:5000  •  REST API + Socket.IO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2350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Middleware (JWT + Role)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2350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Route files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8254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Controller files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28254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10+ Service files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493008"/>
            <a:ext cx="8631936" cy="1170432"/>
          </a:xfrm>
          <a:prstGeom prst="rect">
            <a:avLst/>
          </a:prstGeom>
          <a:solidFill>
            <a:srgbClr val="047857">
              <a:alpha val="90000"/>
            </a:srgbClr>
          </a:solidFill>
          <a:ln w="12700">
            <a:solidFill>
              <a:srgbClr val="0478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493008"/>
            <a:ext cx="2926080" cy="11704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6027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(MongoDB)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39684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myfinbank database  •  10 collections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369417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Customer, Account, Transaction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0" y="369417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Loan, LoanPayment, FixedDeposit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416966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RecurringDeposit, Beneficiary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416966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SupportTicket, SupportMessage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0" y="1975104"/>
            <a:ext cx="0" cy="164592"/>
          </a:xfrm>
          <a:prstGeom prst="line">
            <a:avLst/>
          </a:prstGeom>
          <a:noFill/>
          <a:ln w="31750">
            <a:solidFill>
              <a:srgbClr val="0D9488"/>
            </a:solidFill>
            <a:prstDash val="lgDash"/>
          </a:ln>
        </p:spPr>
      </p:sp>
      <p:sp>
        <p:nvSpPr>
          <p:cNvPr id="30" name="Text 28"/>
          <p:cNvSpPr/>
          <p:nvPr/>
        </p:nvSpPr>
        <p:spPr>
          <a:xfrm>
            <a:off x="3840480" y="1874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JWT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89120" y="3319272"/>
            <a:ext cx="0" cy="164592"/>
          </a:xfrm>
          <a:prstGeom prst="line">
            <a:avLst/>
          </a:prstGeom>
          <a:noFill/>
          <a:ln w="31750">
            <a:solidFill>
              <a:srgbClr val="047857"/>
            </a:solidFill>
            <a:prstDash val="lgDash"/>
          </a:ln>
        </p:spPr>
      </p:sp>
      <p:sp>
        <p:nvSpPr>
          <p:cNvPr id="32" name="Text 30"/>
          <p:cNvSpPr/>
          <p:nvPr/>
        </p:nvSpPr>
        <p:spPr>
          <a:xfrm>
            <a:off x="3611880" y="3218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— KEY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41248"/>
            <a:ext cx="27432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503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22529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account balances, account status badges, quick-action tiles for all banking operations.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82112" y="84124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841248"/>
            <a:ext cx="27432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8503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Deposit / Withdraw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73552" y="122529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are admin-initiated. Customers withdraw; zero-balance auto-triggers AT_RISK + email alert.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35624" y="84124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35624" y="841248"/>
            <a:ext cx="27432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8503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↔️  Fund Transfer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27064" y="122529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to beneficiary accounts. Dual transaction records created with shared REF-UUID reference ID.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231136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231136"/>
            <a:ext cx="27432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2402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Loans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2615184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loans with auto-suggested interest rate. View EMI schedule. Admin approve/reject with email.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82112" y="2231136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2231136"/>
            <a:ext cx="27432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22402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Fixed Deposit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73552" y="2615184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FD with custom tenure. Simple interest: P + (P×r×t/12)/100. Maturity date auto-calculated.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35624" y="2231136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35624" y="2231136"/>
            <a:ext cx="27432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22402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Recurring Deposit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27064" y="2615184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installment scheme. First installment deducted at creation; pay subsequent via portal.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621024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621024"/>
            <a:ext cx="27432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6301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Beneficiaries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00507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payee accounts (pending admin approval). Only ACTIVE beneficiaries shown for transfers.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82112" y="3621024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82112" y="3621024"/>
            <a:ext cx="27432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3552" y="36301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Support Chat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73552" y="400507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tickets, chat in real-time with admin via Socket.IO. Messages persist to DB.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35624" y="3621024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35624" y="3621024"/>
            <a:ext cx="27432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27064" y="36301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Profile + Reset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27064" y="400507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name/phone/address. Forgot password via 6-digit OTP email, valid 10 minutes.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— MANAGEMENT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41248"/>
            <a:ext cx="566928" cy="1188720"/>
          </a:xfrm>
          <a:prstGeom prst="rect">
            <a:avLst/>
          </a:prstGeom>
          <a:solidFill>
            <a:srgbClr val="163255"/>
          </a:solidFill>
          <a:ln w="12700">
            <a:solidFill>
              <a:srgbClr val="1632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41248"/>
            <a:ext cx="56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9326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25296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registrations. Review uploaded KYC documents (Aadhaar/PAN). Approve → activates account + sends welcome email with Customer ID. Reject with one click.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841248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41248"/>
            <a:ext cx="566928" cy="1188720"/>
          </a:xfrm>
          <a:prstGeom prst="rect">
            <a:avLst/>
          </a:prstGeom>
          <a:solidFill>
            <a:srgbClr val="163255"/>
          </a:solidFill>
          <a:ln w="12700">
            <a:solidFill>
              <a:srgbClr val="1632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841248"/>
            <a:ext cx="56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21808" y="9326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Accounts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21808" y="1225296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SAVINGS and CURRENT account requests. Approve/reject. Manually set AT_RISK or DEACTIVATED with deactivation type (MANUAL/AUTO).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2212848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212848"/>
            <a:ext cx="566928" cy="1188720"/>
          </a:xfrm>
          <a:prstGeom prst="rect">
            <a:avLst/>
          </a:prstGeom>
          <a:solidFill>
            <a:srgbClr val="163255"/>
          </a:solidFill>
          <a:ln w="12700">
            <a:solidFill>
              <a:srgbClr val="1632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12848"/>
            <a:ext cx="56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23042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Loans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596896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pending loan applications. Approve (generates full EMI schedule + email) or reject (sends rejection email). View loan details and EMI amounts.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212848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212848"/>
            <a:ext cx="566928" cy="1188720"/>
          </a:xfrm>
          <a:prstGeom prst="rect">
            <a:avLst/>
          </a:prstGeom>
          <a:solidFill>
            <a:srgbClr val="163255"/>
          </a:solidFill>
          <a:ln w="12700">
            <a:solidFill>
              <a:srgbClr val="1632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212848"/>
            <a:ext cx="56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21808" y="23042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Beneficiaries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21808" y="2596896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customer-added payee accounts. Only admin-approved beneficiaries can be used for fund transfers by customers.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3584448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3584448"/>
            <a:ext cx="566928" cy="1188720"/>
          </a:xfrm>
          <a:prstGeom prst="rect">
            <a:avLst/>
          </a:prstGeom>
          <a:solidFill>
            <a:srgbClr val="163255"/>
          </a:solidFill>
          <a:ln w="12700">
            <a:solidFill>
              <a:srgbClr val="1632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584448"/>
            <a:ext cx="56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14400" y="36758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Funds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968496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is the only role that can credit customer accounts (via POST /api/transactions/deposit). Customers cannot self-deposit.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584448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584448"/>
            <a:ext cx="566928" cy="1188720"/>
          </a:xfrm>
          <a:prstGeom prst="rect">
            <a:avLst/>
          </a:prstGeom>
          <a:solidFill>
            <a:srgbClr val="163255"/>
          </a:solidFill>
          <a:ln w="12700">
            <a:solidFill>
              <a:srgbClr val="1632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584448"/>
            <a:ext cx="56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21808" y="36758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Chat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21808" y="3968496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open/in-progress tickets. Chat in real-time with customers via Socket.IO. Update ticket status: OPEN → IN_PROGRESS → RESOLVED.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3255"/>
          </a:solidFill>
          <a:ln w="12700">
            <a:solidFill>
              <a:srgbClr val="1632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 —  10 MongoDB Collections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804672"/>
            <a:ext cx="1664208" cy="1920240"/>
          </a:xfrm>
          <a:prstGeom prst="rect">
            <a:avLst/>
          </a:prstGeom>
          <a:solidFill>
            <a:srgbClr val="1632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04672"/>
            <a:ext cx="1664208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" y="8046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9456" y="1152144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· name · email · password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address · govIdType · govIdNumber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govIdDocumentPath · status · createdAt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938528" y="804672"/>
            <a:ext cx="1664208" cy="1920240"/>
          </a:xfrm>
          <a:prstGeom prst="rect">
            <a:avLst/>
          </a:prstGeom>
          <a:solidFill>
            <a:srgbClr val="1632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38528" y="804672"/>
            <a:ext cx="1664208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248" y="8046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93392" y="1152144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accountNumber · customerId · accountType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· overdraftLimit · status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deactivationType · atRiskSince · createdAt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712464" y="804672"/>
            <a:ext cx="1664208" cy="1920240"/>
          </a:xfrm>
          <a:prstGeom prst="rect">
            <a:avLst/>
          </a:prstGeom>
          <a:solidFill>
            <a:srgbClr val="1632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12464" y="804672"/>
            <a:ext cx="1664208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58184" y="8046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67328" y="1152144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txnId · accountNumber · referenceId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transactionCategory · type · amount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balanceAfterTxn · description · date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486400" y="804672"/>
            <a:ext cx="1664208" cy="1920240"/>
          </a:xfrm>
          <a:prstGeom prst="rect">
            <a:avLst/>
          </a:prstGeom>
          <a:solidFill>
            <a:srgbClr val="1632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804672"/>
            <a:ext cx="1664208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8046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541264" y="1152144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loanId · accountNumber · loanAmount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interestRate · tenureMonths · emiAmount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remainingBalance · purpose · status · startDate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60336" y="804672"/>
            <a:ext cx="1664208" cy="1920240"/>
          </a:xfrm>
          <a:prstGeom prst="rect">
            <a:avLst/>
          </a:prstGeom>
          <a:solidFill>
            <a:srgbClr val="1632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0336" y="804672"/>
            <a:ext cx="1664208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06056" y="8046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LoanPayment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0" y="1152144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paymentId · loanId · emiNumber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· paymentDate · referenceId · status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64592" y="2889504"/>
            <a:ext cx="1664208" cy="1920240"/>
          </a:xfrm>
          <a:prstGeom prst="rect">
            <a:avLst/>
          </a:prstGeom>
          <a:solidFill>
            <a:srgbClr val="1632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89504"/>
            <a:ext cx="1664208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" y="288950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FixedDeposit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19456" y="3236976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fdId · accountNumber · amount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interestRate · tenureMonths · maturityAmount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startDate · maturityDate · status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938528" y="2889504"/>
            <a:ext cx="1664208" cy="1920240"/>
          </a:xfrm>
          <a:prstGeom prst="rect">
            <a:avLst/>
          </a:prstGeom>
          <a:solidFill>
            <a:srgbClr val="1632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38528" y="2889504"/>
            <a:ext cx="1664208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84248" y="288950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RecurringDeposit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993392" y="3236976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rdId · accountNumber · monthlyAmount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tenureMonths · interestRate · paidInstallments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startDate · maturityDate · status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712464" y="2889504"/>
            <a:ext cx="1664208" cy="1920240"/>
          </a:xfrm>
          <a:prstGeom prst="rect">
            <a:avLst/>
          </a:prstGeom>
          <a:solidFill>
            <a:srgbClr val="1632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12464" y="2889504"/>
            <a:ext cx="1664208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58184" y="288950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767328" y="3236976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beneficiaryId · customerId · beneficiaryName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accountNumber · branch · status · createdAt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86400" y="2889504"/>
            <a:ext cx="1664208" cy="1920240"/>
          </a:xfrm>
          <a:prstGeom prst="rect">
            <a:avLst/>
          </a:prstGeom>
          <a:solidFill>
            <a:srgbClr val="1632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0" y="2889504"/>
            <a:ext cx="1664208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288950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SupportTicket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41264" y="3236976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ticketId · customerId · subject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(OPEN/IN_PROGRESS/RESOLVED) · createdAt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260336" y="2889504"/>
            <a:ext cx="1664208" cy="1920240"/>
          </a:xfrm>
          <a:prstGeom prst="rect">
            <a:avLst/>
          </a:prstGeom>
          <a:solidFill>
            <a:srgbClr val="1632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60336" y="2889504"/>
            <a:ext cx="1664208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06056" y="288950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SupportMessage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315200" y="3236976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messageId · ticketId · senderType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senderId · message · timestamp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 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68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9052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" y="123444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289304"/>
            <a:ext cx="21031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submits form + KYC doc (Aadhaar/PAN). Multer stores file. bcryptjs hashes password. Status → PENDING_VERIFICATION.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868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9052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49040" y="123444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289304"/>
            <a:ext cx="21031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views KYC doc, approves customer. Status → ACTIVE. Welcome email sent with Customer ID.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44768" y="8686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868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93408" y="9052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93408" y="123444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1289304"/>
            <a:ext cx="21031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sends email + password. Backend verifies, signs JWT { id, email, role: CUSTOMER }. Token returned to client.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83464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28712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4672" y="320040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255264"/>
            <a:ext cx="21031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stores token in localStorage. Axios interceptor auto-attaches Bearer token to every subsequent request.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83464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49040" y="28712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49040" y="320040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3255264"/>
            <a:ext cx="21031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protected route runs authMiddleware(role). JWT verified, role checked. 401 if invalid, 403 if wrong role.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44768" y="283464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93408" y="28712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693408" y="320040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3255264"/>
            <a:ext cx="21031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OTP → 6-digit code emailed (10min expiry). Submit OTP + new password → bcrypt re-hash, token marked used.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 —  Account &amp; Transaction Lifecycle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412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Lifecycle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5661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1572768"/>
            <a:ext cx="0" cy="20116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73936"/>
            <a:ext cx="3566160" cy="384048"/>
          </a:xfrm>
          <a:prstGeom prst="rect">
            <a:avLst/>
          </a:prstGeom>
          <a:solidFill>
            <a:srgbClr val="163255"/>
          </a:solidFill>
          <a:ln w="12700">
            <a:solidFill>
              <a:srgbClr val="1632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739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KYC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2157984"/>
            <a:ext cx="0" cy="20116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59152"/>
            <a:ext cx="3566160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591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40280" y="2743200"/>
            <a:ext cx="0" cy="20116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44368"/>
            <a:ext cx="356616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44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reaches zero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40280" y="3328416"/>
            <a:ext cx="0" cy="20116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29584"/>
            <a:ext cx="35661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295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AT_RISK (24h timer)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40280" y="3913632"/>
            <a:ext cx="0" cy="20116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114800"/>
            <a:ext cx="356616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DEACTIVATED (AUTO)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4709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Admin can also manually set DEACTIVATED or restore ACTIVE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37760" y="8412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Lifecycle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20640" y="1188720"/>
            <a:ext cx="35661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1188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Applies for Loan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03720" y="1572768"/>
            <a:ext cx="0" cy="20116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1773936"/>
            <a:ext cx="3566160" cy="384048"/>
          </a:xfrm>
          <a:prstGeom prst="rect">
            <a:avLst/>
          </a:prstGeom>
          <a:solidFill>
            <a:srgbClr val="163255"/>
          </a:solidFill>
          <a:ln w="12700">
            <a:solidFill>
              <a:srgbClr val="1632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17739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(auto interest rate)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903720" y="2157984"/>
            <a:ext cx="0" cy="20116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2359152"/>
            <a:ext cx="3566160" cy="3840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23591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03720" y="2743200"/>
            <a:ext cx="0" cy="20116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0" y="2944368"/>
            <a:ext cx="3566160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2944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→ EMI schedule created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03720" y="3328416"/>
            <a:ext cx="0" cy="20116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0640" y="3529584"/>
            <a:ext cx="35661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35295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EMIs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903720" y="3913632"/>
            <a:ext cx="0" cy="20116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20640" y="4114800"/>
            <a:ext cx="3566160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0" y="4114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(all EMIs paid)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43600" y="3429000"/>
            <a:ext cx="23774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3429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→ email sent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903720" y="2615184"/>
            <a:ext cx="1051560" cy="466344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35240" y="27614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0" y="804672"/>
            <a:ext cx="0" cy="4114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3255"/>
          </a:solidFill>
          <a:ln w="12700">
            <a:solidFill>
              <a:srgbClr val="1632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LOGIC &amp; CALCULATIONS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206240" cy="1920240"/>
          </a:xfrm>
          <a:prstGeom prst="rect">
            <a:avLst/>
          </a:prstGeom>
          <a:solidFill>
            <a:srgbClr val="1632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109728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EMI Formula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384048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8016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 = P × r × (1+r)^n  /  [(1+r)^n - 1]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83664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Principal  |  r = Annual Rate / 12 / 100  |  n = Tenure months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rounded to 2 decimal places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0016" y="804672"/>
            <a:ext cx="4206240" cy="1920240"/>
          </a:xfrm>
          <a:prstGeom prst="rect">
            <a:avLst/>
          </a:prstGeom>
          <a:solidFill>
            <a:srgbClr val="1632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0016" y="804672"/>
            <a:ext cx="109728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914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Suggestion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01184" y="1261872"/>
            <a:ext cx="384048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74336" y="128016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≤50K: 10–11%    ≤2L: 9–9.5%    &gt;2L: 8–8.5%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01184" y="1883664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auto-suggested on apply. Admin can override during approval.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tenure = lower rate within each bracket.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2889504"/>
            <a:ext cx="4206240" cy="1920240"/>
          </a:xfrm>
          <a:prstGeom prst="rect">
            <a:avLst/>
          </a:prstGeom>
          <a:solidFill>
            <a:srgbClr val="16325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889504"/>
            <a:ext cx="109728" cy="1920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992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Deposit Maturity (Simple Interest)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46704"/>
            <a:ext cx="384048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36499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Maturity = P + (P × r × t/12) / 100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96849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tenure in months  |  r = annual interest rate (%)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date = startDate + tenureMonths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0016" y="2889504"/>
            <a:ext cx="4206240" cy="1920240"/>
          </a:xfrm>
          <a:prstGeom prst="rect">
            <a:avLst/>
          </a:prstGeom>
          <a:solidFill>
            <a:srgbClr val="16325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0016" y="2889504"/>
            <a:ext cx="109728" cy="1920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29992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AT_RISK Account Auto-Deactivation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01184" y="3346704"/>
            <a:ext cx="384048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336499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Cron: 0 * * * *  (every hour)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01184" y="396849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all AT_RISK accounts where atRiskSince ≤ 24h ago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status = DEACTIVATED, deactivationType = AUTO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 —  REST Architecture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04672"/>
          <a:ext cx="8631936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0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/api/customers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(multipart), Login, Profile, Admin CRUD, KYC status update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/api/admin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register, login, logout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/api/accounts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get my accounts, get all, pending, update 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/api/transactions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 (ADMIN), Withdraw, Transfer, Passbook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/api/loans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Apply, EMI calc (public), my loans, pending, approve/reject, payments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/api/fd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fixed deposit, get FDs by account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/api/rd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recurring deposit, get RDs, pay installment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/api/beneficiaries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Add, get mine (ACTIVE), get pending (ADMIN), approve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/api/support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ticket, my tickets, all tickets, update status, messages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/api/password-reset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OTP, reset password with OTP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371600"/>
            <a:ext cx="4572000" cy="4572000"/>
          </a:xfrm>
          <a:prstGeom prst="ellipse">
            <a:avLst/>
          </a:prstGeom>
          <a:solidFill>
            <a:srgbClr val="163255">
              <a:alpha val="50000"/>
            </a:srgbClr>
          </a:solidFill>
          <a:ln w="12700">
            <a:solidFill>
              <a:srgbClr val="1632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MyFin Bank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production-patterned MERN banking platform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9202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API routes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0" y="2514600"/>
            <a:ext cx="192024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DB collections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514600"/>
            <a:ext cx="1920240" cy="3657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customer pages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66560" y="2514600"/>
            <a:ext cx="19202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admin pages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44952"/>
            <a:ext cx="19202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0" y="3044952"/>
            <a:ext cx="192024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email templates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44952"/>
            <a:ext cx="1920240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3044952"/>
            <a:ext cx="1920240" cy="3657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automation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1562</Words>
  <Application>Microsoft Office PowerPoint</Application>
  <PresentationFormat>On-screen Show (16:9)</PresentationFormat>
  <Paragraphs>246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MyFin Bank - Project Presentation</dc:title>
  <dc:subject>PptxGenJS Presentation</dc:subject>
  <dc:creator>PptxGenJS</dc:creator>
  <cp:lastModifiedBy>Sai Sathwik Sundralla</cp:lastModifiedBy>
  <cp:revision>2</cp:revision>
  <dcterms:created xsi:type="dcterms:W3CDTF">2026-03-17T02:08:44Z</dcterms:created>
  <dcterms:modified xsi:type="dcterms:W3CDTF">2026-03-17T06:46:46Z</dcterms:modified>
</cp:coreProperties>
</file>